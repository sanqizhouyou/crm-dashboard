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160264"/>
            <a:ext cx="476250" cy="381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41264"/>
            <a:ext cx="263290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600"/>
              </a:spcAft>
              <a:buNone/>
            </a:pPr>
            <a:r>
              <a:rPr lang="en-US" sz="2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V6.26 产品新功能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381000" y="2093714"/>
            <a:ext cx="26329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500"/>
              </a:spcAft>
              <a:buNone/>
            </a:pPr>
            <a:r>
              <a:rPr lang="en-US" sz="195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学习分享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81000" y="2684264"/>
            <a:ext cx="52463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管家App · 报表管理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3048000"/>
            <a:ext cx="52463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V6.26.10 灰度7.27 / 全量8.6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3512790"/>
            <a:ext cx="381000" cy="190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000" y="3836640"/>
            <a:ext cx="52463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美团餐饮SaaS · 2026年7月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953250" y="3048000"/>
            <a:ext cx="1905000" cy="1905000"/>
          </a:xfrm>
          <a:prstGeom prst="roundRect">
            <a:avLst>
              <a:gd name="adj" fmla="val 48000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43750" y="3429000"/>
            <a:ext cx="1333500" cy="1333500"/>
          </a:xfrm>
          <a:prstGeom prst="roundRect">
            <a:avLst>
              <a:gd name="adj" fmla="val 68571"/>
            </a:avLst>
          </a:prstGeom>
          <a:noFill/>
          <a:ln w="19050">
            <a:solidFill>
              <a:srgbClr val="FF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34250" y="762000"/>
            <a:ext cx="952500" cy="952500"/>
          </a:xfrm>
          <a:prstGeom prst="roundRect">
            <a:avLst>
              <a:gd name="adj" fmla="val 96000"/>
            </a:avLst>
          </a:prstGeom>
          <a:solidFill>
            <a:srgbClr val="FF6B3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今日分享内容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666750"/>
            <a:ext cx="476250" cy="28575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19238"/>
            <a:ext cx="8382000" cy="8382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2744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rasterized-gradient-b5ed75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1690688"/>
            <a:ext cx="495300" cy="495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9187" y="1791593"/>
            <a:ext cx="23787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257300" y="1737420"/>
            <a:ext cx="7442073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单店商户套餐子菜属性实体化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1257300" y="1992660"/>
            <a:ext cx="74420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外卖套餐子菜属性名称精准匹配 · 配方码打印 · 成本卡扣减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528888"/>
            <a:ext cx="8382000" cy="8382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2744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/tmp/rasterized-gradient-7d842b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2700338"/>
            <a:ext cx="495300" cy="495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9187" y="2801243"/>
            <a:ext cx="23787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257300" y="2747070"/>
            <a:ext cx="7442073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管家App菜品管理性能优化</a:t>
            </a:r>
            <a:endParaRPr lang="en-US" sz="1275" dirty="0"/>
          </a:p>
        </p:txBody>
      </p:sp>
      <p:sp>
        <p:nvSpPr>
          <p:cNvPr id="13" name="Text 9"/>
          <p:cNvSpPr/>
          <p:nvPr/>
        </p:nvSpPr>
        <p:spPr>
          <a:xfrm>
            <a:off x="1257300" y="3002310"/>
            <a:ext cx="74420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筛选精简 · 渠道切换交互 · 按分类按需加载</a:t>
            </a:r>
            <a:endParaRPr lang="en-US" sz="825" dirty="0"/>
          </a:p>
        </p:txBody>
      </p:sp>
      <p:sp>
        <p:nvSpPr>
          <p:cNvPr id="14" name="Text 10"/>
          <p:cNvSpPr/>
          <p:nvPr/>
        </p:nvSpPr>
        <p:spPr>
          <a:xfrm>
            <a:off x="381000" y="3538538"/>
            <a:ext cx="8382000" cy="8382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2744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tmp/rasterized-gradient-79914f5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3709988"/>
            <a:ext cx="495300" cy="495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9187" y="3810893"/>
            <a:ext cx="23787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1257300" y="3756720"/>
            <a:ext cx="7442073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订单敏感操作明细筛选及指标优化</a:t>
            </a:r>
            <a:endParaRPr lang="en-US" sz="1275" dirty="0"/>
          </a:p>
        </p:txBody>
      </p:sp>
      <p:sp>
        <p:nvSpPr>
          <p:cNvPr id="18" name="Text 13"/>
          <p:cNvSpPr/>
          <p:nvPr/>
        </p:nvSpPr>
        <p:spPr>
          <a:xfrm>
            <a:off x="1257300" y="4011960"/>
            <a:ext cx="74420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桌台区域筛选 · 反结字段扩展 · 报表说明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560487"/>
            <a:ext cx="504825" cy="203746"/>
          </a:xfrm>
          <a:prstGeom prst="roundRect">
            <a:avLst>
              <a:gd name="adj" fmla="val 2992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589062"/>
            <a:ext cx="3206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功能一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114425" y="560487"/>
            <a:ext cx="889248" cy="203746"/>
          </a:xfrm>
          <a:prstGeom prst="roundRect">
            <a:avLst>
              <a:gd name="adj" fmla="val 29920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09675" y="589062"/>
            <a:ext cx="7127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管家App · 单店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14350" y="992832"/>
            <a:ext cx="42553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单店商户套餐子菜属性实体化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14350" y="1469082"/>
            <a:ext cx="8324850" cy="824508"/>
          </a:xfrm>
          <a:prstGeom prst="roundRect">
            <a:avLst>
              <a:gd name="adj" fmla="val 7394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8638" y="1469082"/>
            <a:ext cx="0" cy="824508"/>
          </a:xfrm>
          <a:prstGeom prst="line">
            <a:avLst/>
          </a:prstGeom>
          <a:noFill/>
          <a:ln w="28575">
            <a:solidFill>
              <a:srgbClr val="FF4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5325" y="1583382"/>
            <a:ext cx="81513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4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上线前的问题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95325" y="1813768"/>
            <a:ext cx="8151305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单店外卖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普通菜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的属性已支持名称自动匹配堂食属性（优先级：加料 &gt; 做法 &gt; 外卖普通菜），但外卖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套餐子菜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的属性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4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不支持匹配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，直接按文本拼接在菜品名称后展示。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350" y="2541240"/>
            <a:ext cx="84913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由此导致三大问题：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14350" y="2943076"/>
            <a:ext cx="2711351" cy="1074093"/>
          </a:xfrm>
          <a:prstGeom prst="roundRect">
            <a:avLst>
              <a:gd name="adj" fmla="val 5675"/>
            </a:avLst>
          </a:prstGeom>
          <a:solidFill>
            <a:srgbClr val="F8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00308" y="3076426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🖨️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27970" y="3506837"/>
            <a:ext cx="8841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配方码无法打印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335673" y="3737223"/>
            <a:ext cx="10687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制茶设备无法扫码制作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320951" y="2943076"/>
            <a:ext cx="2711500" cy="1074093"/>
          </a:xfrm>
          <a:prstGeom prst="roundRect">
            <a:avLst>
              <a:gd name="adj" fmla="val 5675"/>
            </a:avLst>
          </a:prstGeom>
          <a:solidFill>
            <a:srgbClr val="F8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06909" y="3076426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234571" y="3506837"/>
            <a:ext cx="8841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成本卡无法扣减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3913656" y="3737223"/>
            <a:ext cx="15259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加料/配菜原材料无法自动扣库存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127700" y="2943076"/>
            <a:ext cx="2711500" cy="1074093"/>
          </a:xfrm>
          <a:prstGeom prst="roundRect">
            <a:avLst>
              <a:gd name="adj" fmla="val 5675"/>
            </a:avLst>
          </a:prstGeom>
          <a:solidFill>
            <a:srgbClr val="F8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313658" y="3076426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🧾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041321" y="3506837"/>
            <a:ext cx="8841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出票信息不准确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735282" y="3737223"/>
            <a:ext cx="14961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属性以括号文本形式拼在菜名后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14350" y="4245769"/>
            <a:ext cx="8324850" cy="337096"/>
          </a:xfrm>
          <a:prstGeom prst="roundRect">
            <a:avLst>
              <a:gd name="adj" fmla="val 18084"/>
            </a:avLst>
          </a:prstGeom>
          <a:solidFill>
            <a:srgbClr val="F0F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7700" y="4341019"/>
            <a:ext cx="8219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A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适用场景：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A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茶饮类、正餐类单店商户，接美团外卖/淘宝闪购订单时，套餐子菜属性需自动匹配堂食做法/加料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333524"/>
            <a:ext cx="8491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上线后：套餐子菜属性名称精准匹配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14350" y="847874"/>
            <a:ext cx="2711351" cy="645616"/>
          </a:xfrm>
          <a:prstGeom prst="roundRect">
            <a:avLst>
              <a:gd name="adj" fmla="val 9442"/>
            </a:avLst>
          </a:prstGeom>
          <a:solidFill>
            <a:srgbClr val="F0FAF5"/>
          </a:solidFill>
          <a:ln w="9525">
            <a:solidFill>
              <a:srgbClr val="B8E6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8175" y="933599"/>
            <a:ext cx="2512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00B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适用渠道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638175" y="1261170"/>
            <a:ext cx="2512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美团外卖 + 淘宝闪购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320951" y="847874"/>
            <a:ext cx="2711500" cy="645616"/>
          </a:xfrm>
          <a:prstGeom prst="roundRect">
            <a:avLst>
              <a:gd name="adj" fmla="val 9442"/>
            </a:avLst>
          </a:prstGeom>
          <a:solidFill>
            <a:srgbClr val="F0FAF5"/>
          </a:solidFill>
          <a:ln w="9525">
            <a:solidFill>
              <a:srgbClr val="B8E6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44776" y="933599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00B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前提条件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444776" y="1261170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外卖套餐子菜需先关联堂食普通菜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127700" y="847874"/>
            <a:ext cx="2711500" cy="645616"/>
          </a:xfrm>
          <a:prstGeom prst="roundRect">
            <a:avLst>
              <a:gd name="adj" fmla="val 9442"/>
            </a:avLst>
          </a:prstGeom>
          <a:solidFill>
            <a:srgbClr val="F0FAF5"/>
          </a:solidFill>
          <a:ln w="9525">
            <a:solidFill>
              <a:srgbClr val="B8E6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51525" y="933599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00B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匹配方式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251525" y="1261170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外卖属性组+名称与堂食精准匹配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14350" y="1741140"/>
            <a:ext cx="8491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匹配优先级（从高到低）：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4350" y="2110680"/>
            <a:ext cx="779562" cy="209550"/>
          </a:xfrm>
          <a:prstGeom prst="roundRect">
            <a:avLst>
              <a:gd name="adj" fmla="val 29091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84278" y="2148780"/>
            <a:ext cx="639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加料分组+加料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331059" y="2148780"/>
            <a:ext cx="97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65362" y="2110680"/>
            <a:ext cx="342900" cy="209550"/>
          </a:xfrm>
          <a:prstGeom prst="roundRect">
            <a:avLst>
              <a:gd name="adj" fmla="val 29091"/>
            </a:avLst>
          </a:prstGeom>
          <a:solidFill>
            <a:srgbClr val="E07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39657" y="2148780"/>
            <a:ext cx="194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加料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845409" y="2148780"/>
            <a:ext cx="97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979712" y="2110680"/>
            <a:ext cx="779562" cy="209550"/>
          </a:xfrm>
          <a:prstGeom prst="roundRect">
            <a:avLst>
              <a:gd name="adj" fmla="val 29091"/>
            </a:avLst>
          </a:prstGeom>
          <a:solidFill>
            <a:srgbClr val="2A3F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049640" y="2148780"/>
            <a:ext cx="639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做法分组+做法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796421" y="2148780"/>
            <a:ext cx="97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930723" y="2110680"/>
            <a:ext cx="342900" cy="209550"/>
          </a:xfrm>
          <a:prstGeom prst="roundRect">
            <a:avLst>
              <a:gd name="adj" fmla="val 29091"/>
            </a:avLst>
          </a:prstGeom>
          <a:solidFill>
            <a:srgbClr val="3A55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05018" y="2148780"/>
            <a:ext cx="194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做法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10771" y="2148780"/>
            <a:ext cx="97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45073" y="2110680"/>
            <a:ext cx="684312" cy="209550"/>
          </a:xfrm>
          <a:prstGeom prst="roundRect">
            <a:avLst>
              <a:gd name="adj" fmla="val 29091"/>
            </a:avLst>
          </a:prstGeom>
          <a:solidFill>
            <a:srgbClr val="6B7A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515954" y="2148780"/>
            <a:ext cx="542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配菜+普通菜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14350" y="2567880"/>
            <a:ext cx="4105275" cy="1765846"/>
          </a:xfrm>
          <a:prstGeom prst="roundRect">
            <a:avLst>
              <a:gd name="adj" fmla="val 3452"/>
            </a:avLst>
          </a:prstGeom>
          <a:noFill/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3875" y="2577405"/>
            <a:ext cx="4086225" cy="260896"/>
          </a:xfrm>
          <a:prstGeom prst="rect">
            <a:avLst/>
          </a:prstGeom>
          <a:solidFill>
            <a:srgbClr val="00B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9125" y="2634555"/>
            <a:ext cx="3973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匹配成功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19125" y="3066901"/>
            <a:ext cx="3895725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属性转为堂食做法/加料实体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小票分行展示（如"做法：常温"）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支持配方码打印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支持成本卡扣减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733925" y="2720280"/>
            <a:ext cx="4105275" cy="1461046"/>
          </a:xfrm>
          <a:prstGeom prst="roundRect">
            <a:avLst>
              <a:gd name="adj" fmla="val 4172"/>
            </a:avLst>
          </a:prstGeom>
          <a:noFill/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43450" y="2729805"/>
            <a:ext cx="4086225" cy="260896"/>
          </a:xfrm>
          <a:prstGeom prst="rect">
            <a:avLst/>
          </a:prstGeom>
          <a:solidFill>
            <a:srgbClr val="FF9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38700" y="2786955"/>
            <a:ext cx="3973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匹配失败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838700" y="3219301"/>
            <a:ext cx="3895725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与普通菜处理方式一致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菜品名称后括号文本打印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如"杨枝甘露(常温、椰果)"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14350" y="4562326"/>
            <a:ext cx="8324850" cy="247650"/>
          </a:xfrm>
          <a:prstGeom prst="roundRect">
            <a:avLst>
              <a:gd name="adj" fmla="val 24615"/>
            </a:avLst>
          </a:prstGeom>
          <a:solidFill>
            <a:srgbClr val="FFF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28638" y="4562326"/>
            <a:ext cx="0" cy="247650"/>
          </a:xfrm>
          <a:prstGeom prst="line">
            <a:avLst/>
          </a:prstGeom>
          <a:noFill/>
          <a:ln w="28575">
            <a:solidFill>
              <a:srgbClr val="FF9D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175" y="4619476"/>
            <a:ext cx="82678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匹配范围：仅匹配「外卖套餐子菜关联的堂食菜」下的属性，规则与普通菜完全一致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2A3F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40382"/>
            <a:ext cx="504825" cy="203746"/>
          </a:xfrm>
          <a:prstGeom prst="roundRect">
            <a:avLst>
              <a:gd name="adj" fmla="val 29920"/>
            </a:avLst>
          </a:prstGeom>
          <a:solidFill>
            <a:srgbClr val="2A3F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68957"/>
            <a:ext cx="3206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功能二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114425" y="440382"/>
            <a:ext cx="1159966" cy="203746"/>
          </a:xfrm>
          <a:prstGeom prst="roundRect">
            <a:avLst>
              <a:gd name="adj" fmla="val 29920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09675" y="468957"/>
            <a:ext cx="988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管家App · 连锁+单店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14350" y="872728"/>
            <a:ext cx="42553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管家App菜品管理页面性能优化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14350" y="1348978"/>
            <a:ext cx="8324850" cy="881658"/>
          </a:xfrm>
          <a:prstGeom prst="roundRect">
            <a:avLst>
              <a:gd name="adj" fmla="val 6914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8638" y="1348978"/>
            <a:ext cx="0" cy="881658"/>
          </a:xfrm>
          <a:prstGeom prst="line">
            <a:avLst/>
          </a:prstGeom>
          <a:noFill/>
          <a:ln w="28575">
            <a:solidFill>
              <a:srgbClr val="FF4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5325" y="1482328"/>
            <a:ext cx="81513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4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现存痛点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95325" y="1731764"/>
            <a:ext cx="8151305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菜品数量较多时（数百甚至上千道菜品），管家App菜品管理页面存在严重性能问题：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首屏加载时间过长、渲染性能差、内存占用高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，可能出现页面加载不出来、滑动卡顿甚至闪退。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350" y="2478286"/>
            <a:ext cx="84913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问题根因分析：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14350" y="2899172"/>
            <a:ext cx="2698700" cy="1238101"/>
          </a:xfrm>
          <a:prstGeom prst="roundRect">
            <a:avLst>
              <a:gd name="adj" fmla="val 4924"/>
            </a:avLst>
          </a:prstGeom>
          <a:solidFill>
            <a:srgbClr val="F8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6750" y="3051572"/>
            <a:ext cx="244177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6750" y="3421112"/>
            <a:ext cx="2441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筛选条件过重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66750" y="3670548"/>
            <a:ext cx="244177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「菜品属性」和「价格」筛选项存在性能问题，菜品量级过多时导致页面加载不出来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327350" y="2899172"/>
            <a:ext cx="2698849" cy="1238101"/>
          </a:xfrm>
          <a:prstGeom prst="roundRect">
            <a:avLst>
              <a:gd name="adj" fmla="val 4924"/>
            </a:avLst>
          </a:prstGeom>
          <a:solidFill>
            <a:srgbClr val="F8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79750" y="3051572"/>
            <a:ext cx="244193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479750" y="3421112"/>
            <a:ext cx="24419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渠道切换不直观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3479750" y="3670548"/>
            <a:ext cx="24419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通过「全部菜品」下拉选择渠道，交互路径深、切换效率低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140500" y="2899172"/>
            <a:ext cx="2698700" cy="1238101"/>
          </a:xfrm>
          <a:prstGeom prst="roundRect">
            <a:avLst>
              <a:gd name="adj" fmla="val 4924"/>
            </a:avLst>
          </a:prstGeom>
          <a:solidFill>
            <a:srgbClr val="F8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92900" y="3051572"/>
            <a:ext cx="244177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292900" y="3421112"/>
            <a:ext cx="2441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全量加载策略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292900" y="3670548"/>
            <a:ext cx="244177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全量加载所有菜品并在前端做分类聚合展示，菜品多时首页加载极慢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14350" y="4365873"/>
            <a:ext cx="8324850" cy="337096"/>
          </a:xfrm>
          <a:prstGeom prst="roundRect">
            <a:avLst>
              <a:gd name="adj" fmla="val 18084"/>
            </a:avLst>
          </a:prstGeom>
          <a:solidFill>
            <a:srgbClr val="F0F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7700" y="4461123"/>
            <a:ext cx="8219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A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影响范围：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A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所有菜品数量较多（数百至上千道）的连锁门店和单店商户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2A3F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445740"/>
            <a:ext cx="42165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三项优化措施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52450" y="960090"/>
            <a:ext cx="8248650" cy="962025"/>
          </a:xfrm>
          <a:prstGeom prst="roundRect">
            <a:avLst>
              <a:gd name="adj" fmla="val 6337"/>
            </a:avLst>
          </a:prstGeom>
          <a:solidFill>
            <a:srgbClr val="F8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71500" y="960090"/>
            <a:ext cx="0" cy="962025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pic>
        <p:nvPicPr>
          <p:cNvPr id="6" name="Image 0" descr="/tmp/rasterized-gradient-8b2c702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212503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6558" y="130775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112490"/>
            <a:ext cx="74032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筛选条件精简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1371600" y="1350615"/>
            <a:ext cx="74032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取消当前筛选条件中的「菜品属性」及「价格」筛选项，消除性能瓶颈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371600" y="1598265"/>
            <a:ext cx="723900" cy="171450"/>
          </a:xfrm>
          <a:prstGeom prst="roundRect">
            <a:avLst>
              <a:gd name="adj" fmla="val 35556"/>
            </a:avLst>
          </a:prstGeom>
          <a:solidFill>
            <a:srgbClr val="FFE8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447800" y="1617315"/>
            <a:ext cx="582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4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菜品属性筛选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171700" y="1598265"/>
            <a:ext cx="533400" cy="171450"/>
          </a:xfrm>
          <a:prstGeom prst="roundRect">
            <a:avLst>
              <a:gd name="adj" fmla="val 35556"/>
            </a:avLst>
          </a:prstGeom>
          <a:solidFill>
            <a:srgbClr val="FFE8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247900" y="1617315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4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价格筛选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52450" y="2055465"/>
            <a:ext cx="8248650" cy="962025"/>
          </a:xfrm>
          <a:prstGeom prst="roundRect">
            <a:avLst>
              <a:gd name="adj" fmla="val 6337"/>
            </a:avLst>
          </a:prstGeom>
          <a:solidFill>
            <a:srgbClr val="F8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571500" y="2055465"/>
            <a:ext cx="0" cy="962025"/>
          </a:xfrm>
          <a:prstGeom prst="line">
            <a:avLst/>
          </a:prstGeom>
          <a:noFill/>
          <a:ln w="38100">
            <a:solidFill>
              <a:srgbClr val="2A3F6B"/>
            </a:solidFill>
            <a:prstDash val="solid"/>
          </a:ln>
        </p:spPr>
      </p:sp>
      <p:pic>
        <p:nvPicPr>
          <p:cNvPr id="16" name="Image 1" descr="/tmp/rasterized-gradient-1aa736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30787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36558" y="2403128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71600" y="2207865"/>
            <a:ext cx="74032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渠道切换交互优化</a:t>
            </a:r>
            <a:endParaRPr lang="en-US" sz="1125" dirty="0"/>
          </a:p>
        </p:txBody>
      </p:sp>
      <p:sp>
        <p:nvSpPr>
          <p:cNvPr id="19" name="Text 15"/>
          <p:cNvSpPr/>
          <p:nvPr/>
        </p:nvSpPr>
        <p:spPr>
          <a:xfrm>
            <a:off x="1371600" y="2445990"/>
            <a:ext cx="74032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将原有「全部菜品」下拉选择渠道的方式，改为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页面顶部标签横向切换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371600" y="2693640"/>
            <a:ext cx="819150" cy="171450"/>
          </a:xfrm>
          <a:prstGeom prst="roundRect">
            <a:avLst>
              <a:gd name="adj" fmla="val 35556"/>
            </a:avLst>
          </a:prstGeom>
          <a:solidFill>
            <a:srgbClr val="E0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1447800" y="2712690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下拉菜单（旧）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2247900" y="2699296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419350" y="2693640"/>
            <a:ext cx="972741" cy="171450"/>
          </a:xfrm>
          <a:prstGeom prst="roundRect">
            <a:avLst>
              <a:gd name="adj" fmla="val 35556"/>
            </a:avLst>
          </a:prstGeom>
          <a:solidFill>
            <a:srgbClr val="E0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2495550" y="2712690"/>
            <a:ext cx="836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0B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顶部Tab切换（新）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552450" y="3150840"/>
            <a:ext cx="8248650" cy="962025"/>
          </a:xfrm>
          <a:prstGeom prst="roundRect">
            <a:avLst>
              <a:gd name="adj" fmla="val 6337"/>
            </a:avLst>
          </a:prstGeom>
          <a:solidFill>
            <a:srgbClr val="F8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2"/>
          <p:cNvSpPr/>
          <p:nvPr/>
        </p:nvSpPr>
        <p:spPr>
          <a:xfrm>
            <a:off x="571500" y="3150840"/>
            <a:ext cx="0" cy="962025"/>
          </a:xfrm>
          <a:prstGeom prst="line">
            <a:avLst/>
          </a:prstGeom>
          <a:noFill/>
          <a:ln w="38100">
            <a:solidFill>
              <a:srgbClr val="00BA73"/>
            </a:solidFill>
            <a:prstDash val="solid"/>
          </a:ln>
        </p:spPr>
      </p:sp>
      <p:pic>
        <p:nvPicPr>
          <p:cNvPr id="27" name="Image 2" descr="/tmp/rasterized-gradient-69a6977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403253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36558" y="349850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71600" y="3303240"/>
            <a:ext cx="74032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菜品加载策略优化</a:t>
            </a:r>
            <a:endParaRPr lang="en-US" sz="1125" dirty="0"/>
          </a:p>
        </p:txBody>
      </p:sp>
      <p:sp>
        <p:nvSpPr>
          <p:cNvPr id="30" name="Text 25"/>
          <p:cNvSpPr/>
          <p:nvPr/>
        </p:nvSpPr>
        <p:spPr>
          <a:xfrm>
            <a:off x="1371600" y="3541365"/>
            <a:ext cx="74032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取消全量加载和前端分类聚合展示，改为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按分类按需加载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，保证首页加载顺畅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371600" y="3789015"/>
            <a:ext cx="819150" cy="171450"/>
          </a:xfrm>
          <a:prstGeom prst="roundRect">
            <a:avLst>
              <a:gd name="adj" fmla="val 35556"/>
            </a:avLst>
          </a:prstGeom>
          <a:solidFill>
            <a:srgbClr val="E0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1447800" y="3808065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全量加载（旧）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2247900" y="3794671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2419350" y="3789015"/>
            <a:ext cx="914400" cy="171450"/>
          </a:xfrm>
          <a:prstGeom prst="roundRect">
            <a:avLst>
              <a:gd name="adj" fmla="val 35556"/>
            </a:avLst>
          </a:prstGeom>
          <a:solidFill>
            <a:srgbClr val="E0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2495550" y="3808065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0B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按需懒加载（新）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552450" y="4379565"/>
            <a:ext cx="8248650" cy="318046"/>
          </a:xfrm>
          <a:prstGeom prst="roundRect">
            <a:avLst>
              <a:gd name="adj" fmla="val 19167"/>
            </a:avLst>
          </a:prstGeom>
          <a:solidFill>
            <a:srgbClr val="F0FAF5"/>
          </a:solidFill>
          <a:ln w="9525">
            <a:solidFill>
              <a:srgbClr val="B8E6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695325" y="4465290"/>
            <a:ext cx="81221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8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预期效果：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8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首屏加载大幅提速，滑动流畅，解决闪退问题，菜品管理操作体验显著改善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343942"/>
            <a:ext cx="438150" cy="171450"/>
          </a:xfrm>
          <a:prstGeom prst="roundRect">
            <a:avLst>
              <a:gd name="adj" fmla="val 35556"/>
            </a:avLst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0550" y="362992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功能三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28700" y="343942"/>
            <a:ext cx="1054745" cy="171450"/>
          </a:xfrm>
          <a:prstGeom prst="roundRect">
            <a:avLst>
              <a:gd name="adj" fmla="val 35556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04900" y="362992"/>
            <a:ext cx="9203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报表管理 · 连锁+单店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4350" y="734467"/>
            <a:ext cx="849134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订单敏感操作明细筛选及指标优化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14350" y="1294507"/>
            <a:ext cx="8324850" cy="702915"/>
          </a:xfrm>
          <a:prstGeom prst="roundRect">
            <a:avLst>
              <a:gd name="adj" fmla="val 8672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8638" y="1294507"/>
            <a:ext cx="0" cy="702915"/>
          </a:xfrm>
          <a:prstGeom prst="line">
            <a:avLst/>
          </a:prstGeom>
          <a:noFill/>
          <a:ln w="28575">
            <a:solidFill>
              <a:srgbClr val="FF4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275" y="1389757"/>
            <a:ext cx="81901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4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正餐商户在报表中心的现存问题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6275" y="1587847"/>
            <a:ext cx="81901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查看订单敏感操作明细报表时，无法按桌台区域、结账方式等维度筛选退单和反结账记录，也无法直观看到反结账前后的金额差异和操作时间间隔，难以追踪和分析异常操作。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14350" y="2264122"/>
            <a:ext cx="8491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具体缺失：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4350" y="2805113"/>
            <a:ext cx="2711351" cy="1308646"/>
          </a:xfrm>
          <a:prstGeom prst="roundRect">
            <a:avLst>
              <a:gd name="adj" fmla="val 4658"/>
            </a:avLst>
          </a:prstGeom>
          <a:solidFill>
            <a:srgbClr val="F8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8650" y="2919413"/>
            <a:ext cx="25324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8650" y="3224213"/>
            <a:ext cx="25324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筛选维度不足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28650" y="3427958"/>
            <a:ext cx="2482751" cy="571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不支持「桌台区域」筛选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退单/反结不支持结账方式筛选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20951" y="2652713"/>
            <a:ext cx="2711500" cy="1613446"/>
          </a:xfrm>
          <a:prstGeom prst="roundRect">
            <a:avLst>
              <a:gd name="adj" fmla="val 3778"/>
            </a:avLst>
          </a:prstGeom>
          <a:solidFill>
            <a:srgbClr val="F8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35251" y="2767013"/>
            <a:ext cx="25325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35251" y="3071813"/>
            <a:ext cx="25325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关键字段缺失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435251" y="3275558"/>
            <a:ext cx="24829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无反结前后订单金额对比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无支付金额差异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无反结时间间隔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27700" y="2805113"/>
            <a:ext cx="2711500" cy="1308646"/>
          </a:xfrm>
          <a:prstGeom prst="roundRect">
            <a:avLst>
              <a:gd name="adj" fmla="val 4658"/>
            </a:avLst>
          </a:prstGeom>
          <a:solidFill>
            <a:srgbClr val="F8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42000" y="2919413"/>
            <a:ext cx="25325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42000" y="3224213"/>
            <a:ext cx="25325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统计范围不全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242000" y="3427958"/>
            <a:ext cx="2482900" cy="571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不支持统计反结作废订单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缺少报表说明文案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14350" y="4513808"/>
            <a:ext cx="8324850" cy="285750"/>
          </a:xfrm>
          <a:prstGeom prst="roundRect">
            <a:avLst>
              <a:gd name="adj" fmla="val 21333"/>
            </a:avLst>
          </a:prstGeom>
          <a:solidFill>
            <a:srgbClr val="F0F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8650" y="4590008"/>
            <a:ext cx="8258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A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适用机构：连锁总部、连锁门店、单店 — 正餐商户追踪退单和反结账异常操作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513457"/>
            <a:ext cx="8491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优化方案详解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14350" y="1065907"/>
            <a:ext cx="4105275" cy="1512540"/>
          </a:xfrm>
          <a:prstGeom prst="roundRect">
            <a:avLst>
              <a:gd name="adj" fmla="val 4030"/>
            </a:avLst>
          </a:prstGeom>
          <a:noFill/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3875" y="1075432"/>
            <a:ext cx="4086225" cy="27429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9125" y="1132582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一、筛选条件增强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9125" y="1597372"/>
            <a:ext cx="3895725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新增「桌台区域」筛选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退单支持结账方式筛选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反结支持结账方式筛选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33925" y="1065907"/>
            <a:ext cx="4105275" cy="1512540"/>
          </a:xfrm>
          <a:prstGeom prst="roundRect">
            <a:avLst>
              <a:gd name="adj" fmla="val 4030"/>
            </a:avLst>
          </a:prstGeom>
          <a:noFill/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43450" y="1075432"/>
            <a:ext cx="4086225" cy="274290"/>
          </a:xfrm>
          <a:prstGeom prst="rect">
            <a:avLst/>
          </a:prstGeom>
          <a:solidFill>
            <a:srgbClr val="2A3F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38700" y="1132582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二、统计范围扩展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38700" y="1597372"/>
            <a:ext cx="3895725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新增「反结作废」订单统计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前端增加报表说明文案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反结账结账方式及收入差异说明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14350" y="2845147"/>
            <a:ext cx="8491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三、新增展示字段：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4350" y="3233738"/>
            <a:ext cx="2711351" cy="824657"/>
          </a:xfrm>
          <a:prstGeom prst="roundRect">
            <a:avLst>
              <a:gd name="adj" fmla="val 7392"/>
            </a:avLst>
          </a:prstGeom>
          <a:solidFill>
            <a:srgbClr val="F8F9FC"/>
          </a:solidFill>
          <a:ln w="9525">
            <a:solidFill>
              <a:srgbClr val="E0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60878" y="3357563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442543" y="3626048"/>
            <a:ext cx="8549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反结前后订单金额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481405" y="3801219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直观对比金额变化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20951" y="3233738"/>
            <a:ext cx="2711500" cy="824657"/>
          </a:xfrm>
          <a:prstGeom prst="roundRect">
            <a:avLst>
              <a:gd name="adj" fmla="val 7392"/>
            </a:avLst>
          </a:prstGeom>
          <a:solidFill>
            <a:srgbClr val="F8F9FC"/>
          </a:solidFill>
          <a:ln w="9525">
            <a:solidFill>
              <a:srgbClr val="E0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67479" y="3357563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356015" y="3626048"/>
            <a:ext cx="6412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支付金额差异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288006" y="3801219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发现异常收入波动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127700" y="3233738"/>
            <a:ext cx="2711500" cy="824657"/>
          </a:xfrm>
          <a:prstGeom prst="roundRect">
            <a:avLst>
              <a:gd name="adj" fmla="val 7392"/>
            </a:avLst>
          </a:prstGeom>
          <a:solidFill>
            <a:srgbClr val="F8F9FC"/>
          </a:solidFill>
          <a:ln w="9525">
            <a:solidFill>
              <a:srgbClr val="E0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374228" y="3357563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62764" y="3626048"/>
            <a:ext cx="6412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反结时间间隔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997601" y="3801219"/>
            <a:ext cx="971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识别深夜异常反结操作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14350" y="4325094"/>
            <a:ext cx="8324850" cy="304800"/>
          </a:xfrm>
          <a:prstGeom prst="roundRect">
            <a:avLst>
              <a:gd name="adj" fmla="val 20000"/>
            </a:avLst>
          </a:prstGeom>
          <a:solidFill>
            <a:srgbClr val="F0FAF5"/>
          </a:solidFill>
          <a:ln w="9525">
            <a:solidFill>
              <a:srgbClr val="B8E6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8175" y="4410819"/>
            <a:ext cx="82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08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价值亮点：帮助正餐商户更精准地追踪退单和反结账等敏感操作，快速定位异常行为，减少资损风险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76250" cy="28575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542925"/>
            <a:ext cx="854964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本期新功能总结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1080046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V6.26.10 灰度7.27 / 全量8.6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81000" y="2146846"/>
            <a:ext cx="8382000" cy="647700"/>
          </a:xfrm>
          <a:prstGeom prst="roundRect">
            <a:avLst>
              <a:gd name="adj" fmla="val 941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5288" y="2146846"/>
            <a:ext cx="0" cy="64770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1025" y="2280196"/>
            <a:ext cx="381000" cy="381000"/>
          </a:xfrm>
          <a:prstGeom prst="roundRect">
            <a:avLst>
              <a:gd name="adj" fmla="val 16000"/>
            </a:avLst>
          </a:prstGeom>
          <a:solidFill>
            <a:srgbClr val="FF6B35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4998" y="2363986"/>
            <a:ext cx="1729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5375" y="2301180"/>
            <a:ext cx="70241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套餐子菜属性实体化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5375" y="2506861"/>
            <a:ext cx="7024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单店外卖套餐子菜精准匹配堂食属性 → 配方码打印 + 成本扣减 + 出票规范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115151" y="2391668"/>
            <a:ext cx="476399" cy="158055"/>
          </a:xfrm>
          <a:prstGeom prst="roundRect">
            <a:avLst>
              <a:gd name="adj" fmla="val 38569"/>
            </a:avLst>
          </a:prstGeom>
          <a:solidFill>
            <a:srgbClr val="FF6B3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88111" y="2410718"/>
            <a:ext cx="3304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管家App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81000" y="2908846"/>
            <a:ext cx="8382000" cy="647700"/>
          </a:xfrm>
          <a:prstGeom prst="roundRect">
            <a:avLst>
              <a:gd name="adj" fmla="val 941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5288" y="2908846"/>
            <a:ext cx="0" cy="647700"/>
          </a:xfrm>
          <a:prstGeom prst="line">
            <a:avLst/>
          </a:prstGeom>
          <a:noFill/>
          <a:ln w="28575">
            <a:solidFill>
              <a:srgbClr val="5B8D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1025" y="3042196"/>
            <a:ext cx="381000" cy="381000"/>
          </a:xfrm>
          <a:prstGeom prst="roundRect">
            <a:avLst>
              <a:gd name="adj" fmla="val 16000"/>
            </a:avLst>
          </a:prstGeom>
          <a:solidFill>
            <a:srgbClr val="5B8DE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4998" y="3125986"/>
            <a:ext cx="1729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5375" y="3063180"/>
            <a:ext cx="70241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菜品管理性能优化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95375" y="3268861"/>
            <a:ext cx="7024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筛选精简 + 渠道Tab切换 + 按分类按需加载 → 首屏提速、解决卡顿闪退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115151" y="3153668"/>
            <a:ext cx="476399" cy="158055"/>
          </a:xfrm>
          <a:prstGeom prst="roundRect">
            <a:avLst>
              <a:gd name="adj" fmla="val 38569"/>
            </a:avLst>
          </a:prstGeom>
          <a:solidFill>
            <a:srgbClr val="5B8DE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88111" y="3172718"/>
            <a:ext cx="3304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管家App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81000" y="3670846"/>
            <a:ext cx="8382000" cy="647700"/>
          </a:xfrm>
          <a:prstGeom prst="roundRect">
            <a:avLst>
              <a:gd name="adj" fmla="val 941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95288" y="3670846"/>
            <a:ext cx="0" cy="647700"/>
          </a:xfrm>
          <a:prstGeom prst="line">
            <a:avLst/>
          </a:prstGeom>
          <a:noFill/>
          <a:ln w="28575">
            <a:solidFill>
              <a:srgbClr val="00BA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1025" y="3804196"/>
            <a:ext cx="381000" cy="381000"/>
          </a:xfrm>
          <a:prstGeom prst="roundRect">
            <a:avLst>
              <a:gd name="adj" fmla="val 16000"/>
            </a:avLst>
          </a:prstGeom>
          <a:solidFill>
            <a:srgbClr val="00BA73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4998" y="3887986"/>
            <a:ext cx="1729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B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5375" y="3825180"/>
            <a:ext cx="70048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订单敏感操作明细优化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95375" y="4030861"/>
            <a:ext cx="70048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桌台区域+结账方式筛选 + 反结前后金额对比 + 反结时间间隔 → 精准追踪异常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096250" y="3915668"/>
            <a:ext cx="495300" cy="158055"/>
          </a:xfrm>
          <a:prstGeom prst="roundRect">
            <a:avLst>
              <a:gd name="adj" fmla="val 38569"/>
            </a:avLst>
          </a:prstGeom>
          <a:solidFill>
            <a:srgbClr val="00BA7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169021" y="3934718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0B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报表管理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2026-07-30T10:44:10Z</dcterms:created>
  <dcterms:modified xsi:type="dcterms:W3CDTF">2026-07-30T10:44:10Z</dcterms:modified>
</cp:coreProperties>
</file>